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080625" cy="11160125"/>
  <p:notesSz cx="6858000" cy="9144000"/>
  <p:defaultTextStyle>
    <a:defPPr>
      <a:defRPr lang="en-US"/>
    </a:defPPr>
    <a:lvl1pPr marL="0" algn="l" defTabSz="786761" rtl="0" eaLnBrk="1" latinLnBrk="0" hangingPunct="1">
      <a:defRPr sz="1548" kern="1200">
        <a:solidFill>
          <a:schemeClr val="tx1"/>
        </a:solidFill>
        <a:latin typeface="+mn-lt"/>
        <a:ea typeface="+mn-ea"/>
        <a:cs typeface="+mn-cs"/>
      </a:defRPr>
    </a:lvl1pPr>
    <a:lvl2pPr marL="393382" algn="l" defTabSz="786761" rtl="0" eaLnBrk="1" latinLnBrk="0" hangingPunct="1">
      <a:defRPr sz="1548" kern="1200">
        <a:solidFill>
          <a:schemeClr val="tx1"/>
        </a:solidFill>
        <a:latin typeface="+mn-lt"/>
        <a:ea typeface="+mn-ea"/>
        <a:cs typeface="+mn-cs"/>
      </a:defRPr>
    </a:lvl2pPr>
    <a:lvl3pPr marL="786761" algn="l" defTabSz="786761" rtl="0" eaLnBrk="1" latinLnBrk="0" hangingPunct="1">
      <a:defRPr sz="1548" kern="1200">
        <a:solidFill>
          <a:schemeClr val="tx1"/>
        </a:solidFill>
        <a:latin typeface="+mn-lt"/>
        <a:ea typeface="+mn-ea"/>
        <a:cs typeface="+mn-cs"/>
      </a:defRPr>
    </a:lvl3pPr>
    <a:lvl4pPr marL="1180144" algn="l" defTabSz="786761" rtl="0" eaLnBrk="1" latinLnBrk="0" hangingPunct="1">
      <a:defRPr sz="1548" kern="1200">
        <a:solidFill>
          <a:schemeClr val="tx1"/>
        </a:solidFill>
        <a:latin typeface="+mn-lt"/>
        <a:ea typeface="+mn-ea"/>
        <a:cs typeface="+mn-cs"/>
      </a:defRPr>
    </a:lvl4pPr>
    <a:lvl5pPr marL="1573524" algn="l" defTabSz="786761" rtl="0" eaLnBrk="1" latinLnBrk="0" hangingPunct="1">
      <a:defRPr sz="1548" kern="1200">
        <a:solidFill>
          <a:schemeClr val="tx1"/>
        </a:solidFill>
        <a:latin typeface="+mn-lt"/>
        <a:ea typeface="+mn-ea"/>
        <a:cs typeface="+mn-cs"/>
      </a:defRPr>
    </a:lvl5pPr>
    <a:lvl6pPr marL="1966906" algn="l" defTabSz="786761" rtl="0" eaLnBrk="1" latinLnBrk="0" hangingPunct="1">
      <a:defRPr sz="1548" kern="1200">
        <a:solidFill>
          <a:schemeClr val="tx1"/>
        </a:solidFill>
        <a:latin typeface="+mn-lt"/>
        <a:ea typeface="+mn-ea"/>
        <a:cs typeface="+mn-cs"/>
      </a:defRPr>
    </a:lvl6pPr>
    <a:lvl7pPr marL="2360285" algn="l" defTabSz="786761" rtl="0" eaLnBrk="1" latinLnBrk="0" hangingPunct="1">
      <a:defRPr sz="1548" kern="1200">
        <a:solidFill>
          <a:schemeClr val="tx1"/>
        </a:solidFill>
        <a:latin typeface="+mn-lt"/>
        <a:ea typeface="+mn-ea"/>
        <a:cs typeface="+mn-cs"/>
      </a:defRPr>
    </a:lvl7pPr>
    <a:lvl8pPr marL="2753667" algn="l" defTabSz="786761" rtl="0" eaLnBrk="1" latinLnBrk="0" hangingPunct="1">
      <a:defRPr sz="1548" kern="1200">
        <a:solidFill>
          <a:schemeClr val="tx1"/>
        </a:solidFill>
        <a:latin typeface="+mn-lt"/>
        <a:ea typeface="+mn-ea"/>
        <a:cs typeface="+mn-cs"/>
      </a:defRPr>
    </a:lvl8pPr>
    <a:lvl9pPr marL="3147048" algn="l" defTabSz="786761" rtl="0" eaLnBrk="1" latinLnBrk="0" hangingPunct="1">
      <a:defRPr sz="1548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3126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786761" rtl="0" eaLnBrk="1" latinLnBrk="0" hangingPunct="1">
      <a:defRPr sz="1033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C5D7279-DE88-474C-9EDC-C2674613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4216055"/>
            <a:ext cx="8064500" cy="161201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A9FFF1F-D4AA-411B-AF59-D9EB5DC65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2094" y="6138078"/>
            <a:ext cx="7056438" cy="124001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799DCD2-C563-42BC-B933-197607A58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4650058"/>
            <a:ext cx="8064500" cy="186002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E37455B-1CD6-4D79-B71F-1DD51957C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052" y="868017"/>
            <a:ext cx="8946555" cy="136401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8C5E368-A516-44B1-8411-D9B08CE79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7052" y="3100038"/>
            <a:ext cx="8946555" cy="694407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299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25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753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483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211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2941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669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397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126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F7C5F7D-37C2-459E-97B3-34C606B7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052" y="868017"/>
            <a:ext cx="8946555" cy="136401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CE48A83-F3F8-453A-A41A-5FD768391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7037" y="3100038"/>
            <a:ext cx="4158258" cy="694407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299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25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753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483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211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2941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669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397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126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382F3F1-EB8F-435A-BBB3-76C845DCEEB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355333" y="3100038"/>
            <a:ext cx="4158258" cy="694407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299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25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753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483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211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2941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669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397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126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2649515-F0CE-44D2-A1B3-A08B2DB68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052" y="868017"/>
            <a:ext cx="8946555" cy="136401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BF61D47-AF9E-41AE-96A6-F3263530D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7037" y="3100038"/>
            <a:ext cx="4158258" cy="694407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299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25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753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483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211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2941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669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397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126" indent="-214295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582" indent="-228582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748" indent="-228582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914" indent="-228582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080" indent="-228582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246" indent="-228582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412" indent="-228582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578" indent="-228582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8743" indent="-228582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5909" indent="-228582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16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331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497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664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58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2996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159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328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50FE8D9A-266C-E4AB-F505-E3E5F96DF4D3}"/>
              </a:ext>
            </a:extLst>
          </p:cNvPr>
          <p:cNvSpPr>
            <a:spLocks noGrp="1"/>
          </p:cNvSpPr>
          <p:nvPr/>
        </p:nvSpPr>
        <p:spPr>
          <a:xfrm>
            <a:off x="103057" y="8563635"/>
            <a:ext cx="9864997" cy="2287996"/>
          </a:xfrm>
          <a:prstGeom prst="roundRect">
            <a:avLst>
              <a:gd name="adj" fmla="val 2857"/>
            </a:avLst>
          </a:prstGeom>
          <a:solidFill>
            <a:srgbClr val="FAF5EB"/>
          </a:solidFill>
          <a:ln w="19050">
            <a:solidFill>
              <a:srgbClr val="B8A88A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7A837151-52B5-7A08-B2C8-0B5D6EED7486}"/>
              </a:ext>
            </a:extLst>
          </p:cNvPr>
          <p:cNvSpPr>
            <a:spLocks noGrp="1"/>
          </p:cNvSpPr>
          <p:nvPr/>
        </p:nvSpPr>
        <p:spPr>
          <a:xfrm>
            <a:off x="103057" y="2680781"/>
            <a:ext cx="9864997" cy="5758884"/>
          </a:xfrm>
          <a:prstGeom prst="roundRect">
            <a:avLst>
              <a:gd name="adj" fmla="val 1026"/>
            </a:avLst>
          </a:prstGeom>
          <a:solidFill>
            <a:srgbClr val="EEF4F7"/>
          </a:solidFill>
          <a:ln w="19050">
            <a:solidFill>
              <a:srgbClr val="879FA9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A9DBE156-C46F-41C7-BDAF-DA522F30A55F}"/>
              </a:ext>
            </a:extLst>
          </p:cNvPr>
          <p:cNvSpPr>
            <a:spLocks noGrp="1"/>
          </p:cNvSpPr>
          <p:nvPr/>
        </p:nvSpPr>
        <p:spPr>
          <a:xfrm>
            <a:off x="103054" y="303567"/>
            <a:ext cx="9845811" cy="2262857"/>
          </a:xfrm>
          <a:prstGeom prst="roundRect">
            <a:avLst>
              <a:gd name="adj" fmla="val 2759"/>
            </a:avLst>
          </a:prstGeom>
          <a:solidFill>
            <a:srgbClr val="F1F7EE"/>
          </a:solidFill>
          <a:ln w="19050">
            <a:solidFill>
              <a:srgbClr val="92A993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8175797-E8B1-43CF-ACBB-C692618457B4}"/>
              </a:ext>
            </a:extLst>
          </p:cNvPr>
          <p:cNvSpPr>
            <a:spLocks noGrp="1"/>
          </p:cNvSpPr>
          <p:nvPr/>
        </p:nvSpPr>
        <p:spPr>
          <a:xfrm>
            <a:off x="484345" y="506132"/>
            <a:ext cx="361950" cy="361950"/>
          </a:xfrm>
          <a:prstGeom prst="ellipse">
            <a:avLst/>
          </a:prstGeom>
          <a:solidFill>
            <a:srgbClr val="4F6A59"/>
          </a:solidFill>
          <a:ln w="9525">
            <a:solidFill>
              <a:srgbClr val="4F6A59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49" dirty="0"/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9AEB1C-B3B6-47E2-99CB-17DE0CD99B5E}"/>
              </a:ext>
            </a:extLst>
          </p:cNvPr>
          <p:cNvSpPr>
            <a:spLocks noGrp="1"/>
          </p:cNvSpPr>
          <p:nvPr/>
        </p:nvSpPr>
        <p:spPr>
          <a:xfrm>
            <a:off x="968826" y="456024"/>
            <a:ext cx="225107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pPr>
            <a:r>
              <a:rPr sz="1800" dirty="0"/>
              <a:t>Dataset preparation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D06138C-0398-4248-8A0F-E782BC90764B}"/>
              </a:ext>
            </a:extLst>
          </p:cNvPr>
          <p:cNvSpPr>
            <a:spLocks noGrp="1"/>
          </p:cNvSpPr>
          <p:nvPr/>
        </p:nvSpPr>
        <p:spPr>
          <a:xfrm>
            <a:off x="484347" y="2904826"/>
            <a:ext cx="361950" cy="361950"/>
          </a:xfrm>
          <a:prstGeom prst="ellipse">
            <a:avLst/>
          </a:prstGeom>
          <a:solidFill>
            <a:srgbClr val="4F6A59"/>
          </a:solidFill>
          <a:ln w="9525">
            <a:solidFill>
              <a:srgbClr val="4F6A59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49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9CB96-303F-4A89-AD90-BB3935038755}"/>
              </a:ext>
            </a:extLst>
          </p:cNvPr>
          <p:cNvSpPr>
            <a:spLocks noGrp="1"/>
          </p:cNvSpPr>
          <p:nvPr/>
        </p:nvSpPr>
        <p:spPr>
          <a:xfrm>
            <a:off x="968827" y="2858644"/>
            <a:ext cx="322112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pPr>
            <a:r>
              <a:rPr sz="1800" dirty="0"/>
              <a:t>Standardised XAI framework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A3DA469-918C-4216-9699-182E9405DC05}"/>
              </a:ext>
            </a:extLst>
          </p:cNvPr>
          <p:cNvSpPr>
            <a:spLocks noGrp="1"/>
          </p:cNvSpPr>
          <p:nvPr/>
        </p:nvSpPr>
        <p:spPr>
          <a:xfrm>
            <a:off x="484347" y="8746529"/>
            <a:ext cx="361950" cy="361950"/>
          </a:xfrm>
          <a:prstGeom prst="ellipse">
            <a:avLst/>
          </a:prstGeom>
          <a:solidFill>
            <a:srgbClr val="4F6A59"/>
          </a:solidFill>
          <a:ln w="9525">
            <a:solidFill>
              <a:srgbClr val="4F6A59"/>
            </a:solidFill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49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620533-0734-40FD-A91B-2A691A324E45}"/>
              </a:ext>
            </a:extLst>
          </p:cNvPr>
          <p:cNvSpPr>
            <a:spLocks noGrp="1"/>
          </p:cNvSpPr>
          <p:nvPr/>
        </p:nvSpPr>
        <p:spPr>
          <a:xfrm>
            <a:off x="989022" y="8702034"/>
            <a:ext cx="205439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243029"/>
                </a:solidFill>
                <a:latin typeface="Arial"/>
                <a:ea typeface="Arial"/>
                <a:cs typeface="Arial"/>
              </a:defRPr>
            </a:pPr>
            <a:r>
              <a:rPr sz="1800" dirty="0"/>
              <a:t>Research outputs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34B3CC-0EAD-46D6-98FD-C6D512D1E34D}"/>
              </a:ext>
            </a:extLst>
          </p:cNvPr>
          <p:cNvCxnSpPr/>
          <p:nvPr/>
        </p:nvCxnSpPr>
        <p:spPr>
          <a:xfrm>
            <a:off x="4365942" y="1733550"/>
            <a:ext cx="828000" cy="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  <a:tailEnd type="triangle" w="med" len="med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5607EF-56A8-4A66-B975-C5466708BE58}"/>
              </a:ext>
            </a:extLst>
          </p:cNvPr>
          <p:cNvCxnSpPr/>
          <p:nvPr/>
        </p:nvCxnSpPr>
        <p:spPr>
          <a:xfrm>
            <a:off x="7432992" y="2279650"/>
            <a:ext cx="0" cy="1116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B6A60F-6D57-4FE5-A529-929640830331}"/>
              </a:ext>
            </a:extLst>
          </p:cNvPr>
          <p:cNvCxnSpPr/>
          <p:nvPr/>
        </p:nvCxnSpPr>
        <p:spPr>
          <a:xfrm>
            <a:off x="2745424" y="3390900"/>
            <a:ext cx="4680000" cy="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F0E95A-6C5B-42C9-A270-74A13C763492}"/>
              </a:ext>
            </a:extLst>
          </p:cNvPr>
          <p:cNvCxnSpPr/>
          <p:nvPr/>
        </p:nvCxnSpPr>
        <p:spPr>
          <a:xfrm>
            <a:off x="2735262" y="3403600"/>
            <a:ext cx="0" cy="360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552653E-50D3-4AD9-8CE1-EB2535FF3BA9}"/>
              </a:ext>
            </a:extLst>
          </p:cNvPr>
          <p:cNvCxnSpPr/>
          <p:nvPr/>
        </p:nvCxnSpPr>
        <p:spPr>
          <a:xfrm>
            <a:off x="2735262" y="5092700"/>
            <a:ext cx="0" cy="324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F4DCAF-0678-4206-9D21-CB5C18713160}"/>
              </a:ext>
            </a:extLst>
          </p:cNvPr>
          <p:cNvCxnSpPr>
            <a:cxnSpLocks/>
          </p:cNvCxnSpPr>
          <p:nvPr/>
        </p:nvCxnSpPr>
        <p:spPr>
          <a:xfrm rot="5400000">
            <a:off x="4587874" y="5943607"/>
            <a:ext cx="0" cy="428625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5CCDC6-8CD3-4E0B-B20E-9D35CBA98F50}"/>
              </a:ext>
            </a:extLst>
          </p:cNvPr>
          <p:cNvCxnSpPr>
            <a:cxnSpLocks/>
          </p:cNvCxnSpPr>
          <p:nvPr/>
        </p:nvCxnSpPr>
        <p:spPr>
          <a:xfrm rot="16200000">
            <a:off x="4492572" y="5309814"/>
            <a:ext cx="1512000" cy="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AC650C-58D5-421B-96B8-CE3BEF81F67A}"/>
              </a:ext>
            </a:extLst>
          </p:cNvPr>
          <p:cNvCxnSpPr>
            <a:cxnSpLocks/>
          </p:cNvCxnSpPr>
          <p:nvPr/>
        </p:nvCxnSpPr>
        <p:spPr>
          <a:xfrm rot="16200000">
            <a:off x="4438571" y="6827462"/>
            <a:ext cx="1620000" cy="0"/>
          </a:xfrm>
          <a:prstGeom prst="straightConnector1">
            <a:avLst/>
          </a:prstGeom>
          <a:ln w="28575">
            <a:solidFill>
              <a:srgbClr val="91A297"/>
            </a:solidFill>
            <a:prstDash val="dash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DF1F40-FEF6-4596-8C40-935A91F3BDD2}"/>
              </a:ext>
            </a:extLst>
          </p:cNvPr>
          <p:cNvCxnSpPr/>
          <p:nvPr/>
        </p:nvCxnSpPr>
        <p:spPr>
          <a:xfrm>
            <a:off x="2735262" y="6644478"/>
            <a:ext cx="0" cy="792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295363-87AA-49FD-ABD4-59D4419C67FB}"/>
              </a:ext>
            </a:extLst>
          </p:cNvPr>
          <p:cNvCxnSpPr>
            <a:cxnSpLocks/>
          </p:cNvCxnSpPr>
          <p:nvPr/>
        </p:nvCxnSpPr>
        <p:spPr>
          <a:xfrm rot="16200000">
            <a:off x="5467110" y="4347996"/>
            <a:ext cx="0" cy="432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  <a:tailEnd type="triangle" w="med" len="med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ECF05AA-1EC5-4B8B-8F82-603F2B0D98D7}"/>
              </a:ext>
            </a:extLst>
          </p:cNvPr>
          <p:cNvCxnSpPr>
            <a:cxnSpLocks/>
          </p:cNvCxnSpPr>
          <p:nvPr/>
        </p:nvCxnSpPr>
        <p:spPr>
          <a:xfrm rot="16200000">
            <a:off x="5479923" y="7415429"/>
            <a:ext cx="0" cy="432000"/>
          </a:xfrm>
          <a:prstGeom prst="straightConnector1">
            <a:avLst/>
          </a:prstGeom>
          <a:ln w="28575">
            <a:solidFill>
              <a:srgbClr val="91A297"/>
            </a:solidFill>
            <a:prstDash val="dash"/>
            <a:tailEnd type="triangle" w="med" len="med"/>
          </a:ln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F2BD60-E9C3-48CF-A9E3-718569700203}"/>
              </a:ext>
            </a:extLst>
          </p:cNvPr>
          <p:cNvCxnSpPr/>
          <p:nvPr/>
        </p:nvCxnSpPr>
        <p:spPr>
          <a:xfrm>
            <a:off x="5026110" y="9934575"/>
            <a:ext cx="648000" cy="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  <a:tailEnd type="triangle" w="med" len="med"/>
          </a:ln>
        </p:spPr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E1E15BB-6134-4AAC-B9CE-C86F5EEAE83A}"/>
              </a:ext>
            </a:extLst>
          </p:cNvPr>
          <p:cNvSpPr>
            <a:spLocks noGrp="1"/>
          </p:cNvSpPr>
          <p:nvPr/>
        </p:nvSpPr>
        <p:spPr>
          <a:xfrm>
            <a:off x="390980" y="1098875"/>
            <a:ext cx="3954004" cy="1177607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9CAD9F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A47E55B-8BC7-4910-B6E9-AAF86FD35B6C}"/>
              </a:ext>
            </a:extLst>
          </p:cNvPr>
          <p:cNvSpPr>
            <a:spLocks noGrp="1"/>
          </p:cNvSpPr>
          <p:nvPr/>
        </p:nvSpPr>
        <p:spPr>
          <a:xfrm>
            <a:off x="390978" y="1077285"/>
            <a:ext cx="3954008" cy="412115"/>
          </a:xfrm>
          <a:prstGeom prst="roundRect">
            <a:avLst>
              <a:gd name="adj" fmla="val 18182"/>
            </a:avLst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79B90A-4021-46E7-A3C1-3CBE97E98EA0}"/>
              </a:ext>
            </a:extLst>
          </p:cNvPr>
          <p:cNvSpPr>
            <a:spLocks noGrp="1"/>
          </p:cNvSpPr>
          <p:nvPr/>
        </p:nvSpPr>
        <p:spPr>
          <a:xfrm>
            <a:off x="390978" y="1283502"/>
            <a:ext cx="3954006" cy="211925"/>
          </a:xfrm>
          <a:prstGeom prst="rect">
            <a:avLst/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CC19F27-57A8-446D-AD88-81E0C76D3871}"/>
              </a:ext>
            </a:extLst>
          </p:cNvPr>
          <p:cNvSpPr>
            <a:spLocks noGrp="1"/>
          </p:cNvSpPr>
          <p:nvPr/>
        </p:nvSpPr>
        <p:spPr>
          <a:xfrm>
            <a:off x="390979" y="1105227"/>
            <a:ext cx="3954004" cy="342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dirty="0"/>
              <a:t>Study workflow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602FC15-71D3-4660-84AF-4708FC730E59}"/>
              </a:ext>
            </a:extLst>
          </p:cNvPr>
          <p:cNvSpPr>
            <a:spLocks noGrp="1"/>
          </p:cNvSpPr>
          <p:nvPr/>
        </p:nvSpPr>
        <p:spPr>
          <a:xfrm>
            <a:off x="390988" y="1556549"/>
            <a:ext cx="1196083" cy="65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sz="1200" dirty="0"/>
              <a:t>Replication</a:t>
            </a:r>
            <a:endParaRPr sz="1349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0F309D8-0FA7-4A26-8418-1BA6D7461FD7}"/>
              </a:ext>
            </a:extLst>
          </p:cNvPr>
          <p:cNvSpPr>
            <a:spLocks noGrp="1"/>
          </p:cNvSpPr>
          <p:nvPr/>
        </p:nvSpPr>
        <p:spPr>
          <a:xfrm>
            <a:off x="430369" y="7442201"/>
            <a:ext cx="4618791" cy="542926"/>
          </a:xfrm>
          <a:prstGeom prst="roundRect">
            <a:avLst>
              <a:gd name="adj" fmla="val 9412"/>
            </a:avLst>
          </a:prstGeom>
          <a:solidFill>
            <a:srgbClr val="4F6A59"/>
          </a:solidFill>
          <a:ln w="9525">
            <a:solidFill>
              <a:srgbClr val="4F6A59"/>
            </a:solidFill>
            <a:prstDash val="solid"/>
          </a:ln>
        </p:spPr>
        <p:txBody>
          <a:bodyPr lIns="114300" tIns="38100" rIns="114300" bIns="38100" anchor="ctr">
            <a:normAutofit/>
          </a:bodyPr>
          <a:lstStyle>
            <a:def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dirty="0"/>
              <a:t>Experiment state and exporter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EA5C497-DA99-0926-0296-74432CAD4DA1}"/>
              </a:ext>
            </a:extLst>
          </p:cNvPr>
          <p:cNvSpPr>
            <a:spLocks noGrp="1"/>
          </p:cNvSpPr>
          <p:nvPr/>
        </p:nvSpPr>
        <p:spPr>
          <a:xfrm>
            <a:off x="1705212" y="1561850"/>
            <a:ext cx="1196083" cy="65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sz="1200" dirty="0"/>
              <a:t>Analytical correction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DEE6C25-7603-9590-8322-67D352A52769}"/>
              </a:ext>
            </a:extLst>
          </p:cNvPr>
          <p:cNvSpPr>
            <a:spLocks noGrp="1"/>
          </p:cNvSpPr>
          <p:nvPr/>
        </p:nvSpPr>
        <p:spPr>
          <a:xfrm>
            <a:off x="3032146" y="1571382"/>
            <a:ext cx="1196083" cy="6574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sz="1200" dirty="0"/>
              <a:t>Preprocessing and fitting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6706B09-C687-BB88-9236-32B24A21E58D}"/>
              </a:ext>
            </a:extLst>
          </p:cNvPr>
          <p:cNvCxnSpPr/>
          <p:nvPr/>
        </p:nvCxnSpPr>
        <p:spPr>
          <a:xfrm>
            <a:off x="1647040" y="1662205"/>
            <a:ext cx="0" cy="47625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ADC39AB-481D-6589-E6B3-F3EE8AC25FD4}"/>
              </a:ext>
            </a:extLst>
          </p:cNvPr>
          <p:cNvCxnSpPr/>
          <p:nvPr/>
        </p:nvCxnSpPr>
        <p:spPr>
          <a:xfrm>
            <a:off x="2960582" y="1623651"/>
            <a:ext cx="0" cy="47625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B5729022-D8CD-AC5E-ADA9-D0104E908A45}"/>
              </a:ext>
            </a:extLst>
          </p:cNvPr>
          <p:cNvSpPr>
            <a:spLocks noGrp="1"/>
          </p:cNvSpPr>
          <p:nvPr/>
        </p:nvSpPr>
        <p:spPr>
          <a:xfrm>
            <a:off x="5184246" y="1129915"/>
            <a:ext cx="4463321" cy="1177607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9CAD9F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0FD0437C-87A1-4659-1819-32C705E8F40B}"/>
              </a:ext>
            </a:extLst>
          </p:cNvPr>
          <p:cNvSpPr>
            <a:spLocks noGrp="1"/>
          </p:cNvSpPr>
          <p:nvPr/>
        </p:nvSpPr>
        <p:spPr>
          <a:xfrm>
            <a:off x="5184235" y="1108324"/>
            <a:ext cx="4463326" cy="412115"/>
          </a:xfrm>
          <a:prstGeom prst="roundRect">
            <a:avLst>
              <a:gd name="adj" fmla="val 18182"/>
            </a:avLst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1AB4290-16DA-FDB5-237B-77B0214E3701}"/>
              </a:ext>
            </a:extLst>
          </p:cNvPr>
          <p:cNvSpPr>
            <a:spLocks noGrp="1"/>
          </p:cNvSpPr>
          <p:nvPr/>
        </p:nvSpPr>
        <p:spPr>
          <a:xfrm>
            <a:off x="5184237" y="1314542"/>
            <a:ext cx="4463322" cy="211925"/>
          </a:xfrm>
          <a:prstGeom prst="rect">
            <a:avLst/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AD691FC-CE36-97D8-9CFC-FC14E35283F8}"/>
              </a:ext>
            </a:extLst>
          </p:cNvPr>
          <p:cNvSpPr>
            <a:spLocks noGrp="1"/>
          </p:cNvSpPr>
          <p:nvPr/>
        </p:nvSpPr>
        <p:spPr>
          <a:xfrm>
            <a:off x="4946946" y="1136266"/>
            <a:ext cx="4700621" cy="342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300" dirty="0"/>
              <a:t>Analytical inputs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5A2DBC8-1FA6-0C3A-08F8-2E45601C4C59}"/>
              </a:ext>
            </a:extLst>
          </p:cNvPr>
          <p:cNvSpPr>
            <a:spLocks noGrp="1"/>
          </p:cNvSpPr>
          <p:nvPr/>
        </p:nvSpPr>
        <p:spPr>
          <a:xfrm>
            <a:off x="5146135" y="1574888"/>
            <a:ext cx="1080000" cy="67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Fitted </a:t>
            </a:r>
          </a:p>
          <a:p>
            <a:pPr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model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BAC3832-C071-C61E-201F-3A8633152C50}"/>
              </a:ext>
            </a:extLst>
          </p:cNvPr>
          <p:cNvSpPr>
            <a:spLocks noGrp="1"/>
          </p:cNvSpPr>
          <p:nvPr/>
        </p:nvSpPr>
        <p:spPr>
          <a:xfrm>
            <a:off x="6257988" y="1580189"/>
            <a:ext cx="1127994" cy="67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Aligned matrices and labels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D0A59AA-909A-9FED-6B87-06CB4E6B6748}"/>
              </a:ext>
            </a:extLst>
          </p:cNvPr>
          <p:cNvSpPr>
            <a:spLocks noGrp="1"/>
          </p:cNvSpPr>
          <p:nvPr/>
        </p:nvSpPr>
        <p:spPr>
          <a:xfrm>
            <a:off x="7470622" y="1577015"/>
            <a:ext cx="1127994" cy="67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Features and settings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8D4DAF4-A145-06CC-0003-0075758EB240}"/>
              </a:ext>
            </a:extLst>
          </p:cNvPr>
          <p:cNvCxnSpPr>
            <a:cxnSpLocks/>
          </p:cNvCxnSpPr>
          <p:nvPr/>
        </p:nvCxnSpPr>
        <p:spPr>
          <a:xfrm>
            <a:off x="6190300" y="1693245"/>
            <a:ext cx="0" cy="47625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5DB85DB-4B92-EDAA-FBD4-5A2CC9A8EA0B}"/>
              </a:ext>
            </a:extLst>
          </p:cNvPr>
          <p:cNvCxnSpPr>
            <a:cxnSpLocks/>
          </p:cNvCxnSpPr>
          <p:nvPr/>
        </p:nvCxnSpPr>
        <p:spPr>
          <a:xfrm>
            <a:off x="7440342" y="1654691"/>
            <a:ext cx="0" cy="47625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4D68E320-6A54-54B1-4E3B-3B6DF5A18A1B}"/>
              </a:ext>
            </a:extLst>
          </p:cNvPr>
          <p:cNvSpPr>
            <a:spLocks noGrp="1"/>
          </p:cNvSpPr>
          <p:nvPr/>
        </p:nvSpPr>
        <p:spPr>
          <a:xfrm>
            <a:off x="8583401" y="1582196"/>
            <a:ext cx="1127994" cy="6762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Optional retraining callback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3402990-9FFF-7027-059C-D464CFC0A7B6}"/>
              </a:ext>
            </a:extLst>
          </p:cNvPr>
          <p:cNvCxnSpPr>
            <a:cxnSpLocks/>
          </p:cNvCxnSpPr>
          <p:nvPr/>
        </p:nvCxnSpPr>
        <p:spPr>
          <a:xfrm>
            <a:off x="8632495" y="1665841"/>
            <a:ext cx="0" cy="47625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D363F1ED-E869-8F42-20F3-7B979DC0F138}"/>
              </a:ext>
            </a:extLst>
          </p:cNvPr>
          <p:cNvSpPr>
            <a:spLocks noGrp="1"/>
          </p:cNvSpPr>
          <p:nvPr/>
        </p:nvSpPr>
        <p:spPr>
          <a:xfrm>
            <a:off x="403678" y="3852956"/>
            <a:ext cx="4669678" cy="123021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9CAD9F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29DF2168-3AFB-4B5D-0A49-BC842735BB5D}"/>
              </a:ext>
            </a:extLst>
          </p:cNvPr>
          <p:cNvSpPr>
            <a:spLocks noGrp="1"/>
          </p:cNvSpPr>
          <p:nvPr/>
        </p:nvSpPr>
        <p:spPr>
          <a:xfrm>
            <a:off x="403677" y="3831372"/>
            <a:ext cx="4669682" cy="412115"/>
          </a:xfrm>
          <a:prstGeom prst="roundRect">
            <a:avLst>
              <a:gd name="adj" fmla="val 18182"/>
            </a:avLst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1B7F5AD-7856-B2D4-AD41-AA31A2DF5D36}"/>
              </a:ext>
            </a:extLst>
          </p:cNvPr>
          <p:cNvSpPr>
            <a:spLocks noGrp="1"/>
          </p:cNvSpPr>
          <p:nvPr/>
        </p:nvSpPr>
        <p:spPr>
          <a:xfrm>
            <a:off x="403683" y="4037589"/>
            <a:ext cx="4669679" cy="211925"/>
          </a:xfrm>
          <a:prstGeom prst="rect">
            <a:avLst/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BED66E1-AB19-25CA-9B2A-DD2188602660}"/>
              </a:ext>
            </a:extLst>
          </p:cNvPr>
          <p:cNvSpPr>
            <a:spLocks noGrp="1"/>
          </p:cNvSpPr>
          <p:nvPr/>
        </p:nvSpPr>
        <p:spPr>
          <a:xfrm>
            <a:off x="454485" y="3884713"/>
            <a:ext cx="4594687" cy="342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300" dirty="0"/>
              <a:t>Configuration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05FAA48-5377-D3AC-1B69-D1FB8D34EA56}"/>
              </a:ext>
            </a:extLst>
          </p:cNvPr>
          <p:cNvSpPr>
            <a:spLocks noGrp="1"/>
          </p:cNvSpPr>
          <p:nvPr/>
        </p:nvSpPr>
        <p:spPr>
          <a:xfrm>
            <a:off x="432260" y="4264916"/>
            <a:ext cx="1518715" cy="809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Shared configuration interface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3DB1CCA-1821-174E-E6D3-B779800FC75F}"/>
              </a:ext>
            </a:extLst>
          </p:cNvPr>
          <p:cNvSpPr>
            <a:spLocks noGrp="1"/>
          </p:cNvSpPr>
          <p:nvPr/>
        </p:nvSpPr>
        <p:spPr>
          <a:xfrm>
            <a:off x="1980413" y="4254976"/>
            <a:ext cx="1518714" cy="823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Data, model, feature definitions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97B3E74-E16F-A2C8-F994-90E20D7E61B3}"/>
              </a:ext>
            </a:extLst>
          </p:cNvPr>
          <p:cNvSpPr>
            <a:spLocks noGrp="1"/>
          </p:cNvSpPr>
          <p:nvPr/>
        </p:nvSpPr>
        <p:spPr>
          <a:xfrm>
            <a:off x="3532428" y="4256884"/>
            <a:ext cx="1518715" cy="8327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Methods, scoring, seeds, and output paths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BBFFC74-818F-EF63-3103-726EBAACCB9A}"/>
              </a:ext>
            </a:extLst>
          </p:cNvPr>
          <p:cNvCxnSpPr>
            <a:cxnSpLocks/>
          </p:cNvCxnSpPr>
          <p:nvPr/>
        </p:nvCxnSpPr>
        <p:spPr>
          <a:xfrm>
            <a:off x="1970888" y="4349618"/>
            <a:ext cx="0" cy="648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426B95B-E61B-EDD6-7452-1201D52909DD}"/>
              </a:ext>
            </a:extLst>
          </p:cNvPr>
          <p:cNvCxnSpPr>
            <a:cxnSpLocks/>
          </p:cNvCxnSpPr>
          <p:nvPr/>
        </p:nvCxnSpPr>
        <p:spPr>
          <a:xfrm>
            <a:off x="3497155" y="4333924"/>
            <a:ext cx="0" cy="648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0AB09E74-6153-856F-5E33-845881A66656}"/>
              </a:ext>
            </a:extLst>
          </p:cNvPr>
          <p:cNvSpPr>
            <a:spLocks noGrp="1"/>
          </p:cNvSpPr>
          <p:nvPr/>
        </p:nvSpPr>
        <p:spPr>
          <a:xfrm>
            <a:off x="430377" y="5423061"/>
            <a:ext cx="4618793" cy="1255716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9CAD9F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8604D4D-6E00-AAA8-CE27-00CD46B4E533}"/>
              </a:ext>
            </a:extLst>
          </p:cNvPr>
          <p:cNvSpPr>
            <a:spLocks noGrp="1"/>
          </p:cNvSpPr>
          <p:nvPr/>
        </p:nvSpPr>
        <p:spPr>
          <a:xfrm>
            <a:off x="430374" y="5401476"/>
            <a:ext cx="4618797" cy="412115"/>
          </a:xfrm>
          <a:prstGeom prst="roundRect">
            <a:avLst>
              <a:gd name="adj" fmla="val 18182"/>
            </a:avLst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F8FBC87-6E4D-4BF6-3C4A-AC13F756DE5A}"/>
              </a:ext>
            </a:extLst>
          </p:cNvPr>
          <p:cNvSpPr>
            <a:spLocks noGrp="1"/>
          </p:cNvSpPr>
          <p:nvPr/>
        </p:nvSpPr>
        <p:spPr>
          <a:xfrm>
            <a:off x="430368" y="5607694"/>
            <a:ext cx="4618794" cy="211925"/>
          </a:xfrm>
          <a:prstGeom prst="rect">
            <a:avLst/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F370FB9-89C6-B80C-2699-FD2DF507E3C0}"/>
              </a:ext>
            </a:extLst>
          </p:cNvPr>
          <p:cNvSpPr>
            <a:spLocks noGrp="1"/>
          </p:cNvSpPr>
          <p:nvPr/>
        </p:nvSpPr>
        <p:spPr>
          <a:xfrm>
            <a:off x="430376" y="5429418"/>
            <a:ext cx="4618791" cy="342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400" b="0" dirty="0">
                <a:latin typeface="Consolas"/>
                <a:ea typeface="Consolas"/>
                <a:cs typeface="Consolas"/>
              </a:rPr>
              <a:t>run_pipeline(config)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22A4913-F5DC-166F-990A-CE42189A6842}"/>
              </a:ext>
            </a:extLst>
          </p:cNvPr>
          <p:cNvSpPr>
            <a:spLocks noGrp="1"/>
          </p:cNvSpPr>
          <p:nvPr/>
        </p:nvSpPr>
        <p:spPr>
          <a:xfrm>
            <a:off x="484347" y="5835020"/>
            <a:ext cx="1450800" cy="8094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Orchestrates enabled stages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C69329F-0834-7BB9-1596-E6EC7E625036}"/>
              </a:ext>
            </a:extLst>
          </p:cNvPr>
          <p:cNvSpPr>
            <a:spLocks noGrp="1"/>
          </p:cNvSpPr>
          <p:nvPr/>
        </p:nvSpPr>
        <p:spPr>
          <a:xfrm>
            <a:off x="2055748" y="5832701"/>
            <a:ext cx="1451045" cy="823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Maintains the shared experiment state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29C21A7-7D3A-C049-4EDC-F4E2375A057C}"/>
              </a:ext>
            </a:extLst>
          </p:cNvPr>
          <p:cNvSpPr>
            <a:spLocks noGrp="1"/>
          </p:cNvSpPr>
          <p:nvPr/>
        </p:nvSpPr>
        <p:spPr>
          <a:xfrm>
            <a:off x="3573186" y="5826989"/>
            <a:ext cx="1454223" cy="8327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Records runtime and provenance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343FDEC8-447B-87BC-B0C5-416F0A59C62B}"/>
              </a:ext>
            </a:extLst>
          </p:cNvPr>
          <p:cNvCxnSpPr>
            <a:cxnSpLocks/>
          </p:cNvCxnSpPr>
          <p:nvPr/>
        </p:nvCxnSpPr>
        <p:spPr>
          <a:xfrm>
            <a:off x="1988055" y="5919723"/>
            <a:ext cx="0" cy="648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9465824-F6FF-5934-D9FD-787C6274DBBB}"/>
              </a:ext>
            </a:extLst>
          </p:cNvPr>
          <p:cNvCxnSpPr>
            <a:cxnSpLocks/>
          </p:cNvCxnSpPr>
          <p:nvPr/>
        </p:nvCxnSpPr>
        <p:spPr>
          <a:xfrm>
            <a:off x="3558772" y="5904029"/>
            <a:ext cx="0" cy="648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F6F5B2F3-6852-248D-85E9-C508A5BA1FC1}"/>
              </a:ext>
            </a:extLst>
          </p:cNvPr>
          <p:cNvSpPr>
            <a:spLocks noGrp="1"/>
          </p:cNvSpPr>
          <p:nvPr/>
        </p:nvSpPr>
        <p:spPr>
          <a:xfrm>
            <a:off x="5675955" y="3866603"/>
            <a:ext cx="3971607" cy="135286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9CAD9F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EC18EE14-2818-0B86-6A1A-89AFD035184F}"/>
              </a:ext>
            </a:extLst>
          </p:cNvPr>
          <p:cNvSpPr>
            <a:spLocks noGrp="1"/>
          </p:cNvSpPr>
          <p:nvPr/>
        </p:nvSpPr>
        <p:spPr>
          <a:xfrm>
            <a:off x="5675947" y="3845012"/>
            <a:ext cx="3971604" cy="412115"/>
          </a:xfrm>
          <a:prstGeom prst="roundRect">
            <a:avLst>
              <a:gd name="adj" fmla="val 18182"/>
            </a:avLst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A5E0767-41CB-2CB4-78BF-D090CB947A24}"/>
              </a:ext>
            </a:extLst>
          </p:cNvPr>
          <p:cNvSpPr>
            <a:spLocks noGrp="1"/>
          </p:cNvSpPr>
          <p:nvPr/>
        </p:nvSpPr>
        <p:spPr>
          <a:xfrm>
            <a:off x="5675947" y="4051235"/>
            <a:ext cx="3971604" cy="211914"/>
          </a:xfrm>
          <a:prstGeom prst="rect">
            <a:avLst/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39FBC16-2326-CB78-D88B-3FDF87850332}"/>
              </a:ext>
            </a:extLst>
          </p:cNvPr>
          <p:cNvSpPr>
            <a:spLocks noGrp="1"/>
          </p:cNvSpPr>
          <p:nvPr/>
        </p:nvSpPr>
        <p:spPr>
          <a:xfrm>
            <a:off x="5675954" y="3872954"/>
            <a:ext cx="3686811" cy="342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300" dirty="0"/>
              <a:t>Global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94823F3-E32E-E33E-6C14-3B70F1D624F5}"/>
              </a:ext>
            </a:extLst>
          </p:cNvPr>
          <p:cNvSpPr>
            <a:spLocks noGrp="1"/>
          </p:cNvSpPr>
          <p:nvPr/>
        </p:nvSpPr>
        <p:spPr>
          <a:xfrm>
            <a:off x="5675955" y="4253634"/>
            <a:ext cx="1307237" cy="9563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Native, SHAP, permutation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DC5FCD6-3BD8-E27D-1F52-BA261A208A3D}"/>
              </a:ext>
            </a:extLst>
          </p:cNvPr>
          <p:cNvSpPr>
            <a:spLocks noGrp="1"/>
          </p:cNvSpPr>
          <p:nvPr/>
        </p:nvSpPr>
        <p:spPr>
          <a:xfrm>
            <a:off x="7016758" y="4252356"/>
            <a:ext cx="1307237" cy="95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Rank agreement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60F10FF-B9FB-3EFB-ACFA-B42AB4673582}"/>
              </a:ext>
            </a:extLst>
          </p:cNvPr>
          <p:cNvSpPr>
            <a:spLocks noGrp="1"/>
          </p:cNvSpPr>
          <p:nvPr/>
        </p:nvSpPr>
        <p:spPr>
          <a:xfrm>
            <a:off x="8343037" y="4263149"/>
            <a:ext cx="1306800" cy="9563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Top-k overlap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ECD2189-8264-9594-7E8B-117F5D6F105E}"/>
              </a:ext>
            </a:extLst>
          </p:cNvPr>
          <p:cNvCxnSpPr/>
          <p:nvPr/>
        </p:nvCxnSpPr>
        <p:spPr>
          <a:xfrm>
            <a:off x="7003452" y="4429933"/>
            <a:ext cx="0" cy="648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D0F978D-D0DD-198B-2386-D5693042FF81}"/>
              </a:ext>
            </a:extLst>
          </p:cNvPr>
          <p:cNvCxnSpPr/>
          <p:nvPr/>
        </p:nvCxnSpPr>
        <p:spPr>
          <a:xfrm>
            <a:off x="8326516" y="4414240"/>
            <a:ext cx="0" cy="648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ADF27006-FC11-5B8E-A06D-A01FC64CB034}"/>
              </a:ext>
            </a:extLst>
          </p:cNvPr>
          <p:cNvSpPr>
            <a:spLocks noGrp="1"/>
          </p:cNvSpPr>
          <p:nvPr/>
        </p:nvSpPr>
        <p:spPr>
          <a:xfrm>
            <a:off x="5683121" y="5392580"/>
            <a:ext cx="3964435" cy="1347238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9CAD9F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BF312BBE-FF18-0640-3AEB-193B3B813487}"/>
              </a:ext>
            </a:extLst>
          </p:cNvPr>
          <p:cNvSpPr>
            <a:spLocks noGrp="1"/>
          </p:cNvSpPr>
          <p:nvPr/>
        </p:nvSpPr>
        <p:spPr>
          <a:xfrm>
            <a:off x="5683119" y="5370994"/>
            <a:ext cx="3964443" cy="412115"/>
          </a:xfrm>
          <a:prstGeom prst="roundRect">
            <a:avLst>
              <a:gd name="adj" fmla="val 18182"/>
            </a:avLst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61C67CC-8385-7C31-32A1-9F230062BC0C}"/>
              </a:ext>
            </a:extLst>
          </p:cNvPr>
          <p:cNvSpPr>
            <a:spLocks noGrp="1"/>
          </p:cNvSpPr>
          <p:nvPr/>
        </p:nvSpPr>
        <p:spPr>
          <a:xfrm>
            <a:off x="5683119" y="5588011"/>
            <a:ext cx="3964441" cy="201127"/>
          </a:xfrm>
          <a:prstGeom prst="rect">
            <a:avLst/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8497D4E-09B4-CC8C-362C-5DE8657228A2}"/>
              </a:ext>
            </a:extLst>
          </p:cNvPr>
          <p:cNvSpPr>
            <a:spLocks noGrp="1"/>
          </p:cNvSpPr>
          <p:nvPr/>
        </p:nvSpPr>
        <p:spPr>
          <a:xfrm>
            <a:off x="5683118" y="5398936"/>
            <a:ext cx="3696927" cy="342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300" dirty="0"/>
              <a:t>Local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C33A00C-B53C-DB06-4A15-FA639D24CFD3}"/>
              </a:ext>
            </a:extLst>
          </p:cNvPr>
          <p:cNvSpPr>
            <a:spLocks noGrp="1"/>
          </p:cNvSpPr>
          <p:nvPr/>
        </p:nvSpPr>
        <p:spPr>
          <a:xfrm>
            <a:off x="5692638" y="5771990"/>
            <a:ext cx="1306800" cy="95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Correct, incorrect, borderline cases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1F7A09C-D14B-5ECD-42AA-5EF17C050816}"/>
              </a:ext>
            </a:extLst>
          </p:cNvPr>
          <p:cNvSpPr>
            <a:spLocks noGrp="1"/>
          </p:cNvSpPr>
          <p:nvPr/>
        </p:nvSpPr>
        <p:spPr>
          <a:xfrm>
            <a:off x="7016396" y="5771992"/>
            <a:ext cx="1310047" cy="9590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Repeated-seed LIME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BF70936-61E4-3ED3-0357-3A601B2A8238}"/>
              </a:ext>
            </a:extLst>
          </p:cNvPr>
          <p:cNvSpPr>
            <a:spLocks noGrp="1"/>
          </p:cNvSpPr>
          <p:nvPr/>
        </p:nvSpPr>
        <p:spPr>
          <a:xfrm>
            <a:off x="8348092" y="5771991"/>
            <a:ext cx="1306800" cy="95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Seed-stability assessment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9616D6A-6798-7229-B907-3FF61339B145}"/>
              </a:ext>
            </a:extLst>
          </p:cNvPr>
          <p:cNvCxnSpPr/>
          <p:nvPr/>
        </p:nvCxnSpPr>
        <p:spPr>
          <a:xfrm>
            <a:off x="7012197" y="5955916"/>
            <a:ext cx="0" cy="648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45543E3-F4FF-BD64-D130-8AEBEACE8F60}"/>
              </a:ext>
            </a:extLst>
          </p:cNvPr>
          <p:cNvCxnSpPr/>
          <p:nvPr/>
        </p:nvCxnSpPr>
        <p:spPr>
          <a:xfrm>
            <a:off x="8328915" y="5940222"/>
            <a:ext cx="0" cy="648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EEDBC80-4258-0376-15F1-9FF454661133}"/>
              </a:ext>
            </a:extLst>
          </p:cNvPr>
          <p:cNvCxnSpPr>
            <a:cxnSpLocks/>
          </p:cNvCxnSpPr>
          <p:nvPr/>
        </p:nvCxnSpPr>
        <p:spPr>
          <a:xfrm rot="16200000">
            <a:off x="5480359" y="5849838"/>
            <a:ext cx="0" cy="432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  <a:tailEnd type="triangle" w="med" len="med"/>
          </a:ln>
        </p:spPr>
      </p:cxn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3990DA8A-81A3-010A-C11D-D400FFF80588}"/>
              </a:ext>
            </a:extLst>
          </p:cNvPr>
          <p:cNvSpPr>
            <a:spLocks noGrp="1"/>
          </p:cNvSpPr>
          <p:nvPr/>
        </p:nvSpPr>
        <p:spPr>
          <a:xfrm>
            <a:off x="5690491" y="6914363"/>
            <a:ext cx="3957069" cy="412115"/>
          </a:xfrm>
          <a:prstGeom prst="roundRect">
            <a:avLst>
              <a:gd name="adj" fmla="val 18182"/>
            </a:avLst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7CF0DDC-3C30-3B2E-5275-3866B2FDED05}"/>
              </a:ext>
            </a:extLst>
          </p:cNvPr>
          <p:cNvSpPr>
            <a:spLocks noGrp="1"/>
          </p:cNvSpPr>
          <p:nvPr/>
        </p:nvSpPr>
        <p:spPr>
          <a:xfrm>
            <a:off x="5690491" y="7120581"/>
            <a:ext cx="3957067" cy="219061"/>
          </a:xfrm>
          <a:prstGeom prst="rect">
            <a:avLst/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1D0B99E-336C-D8C2-CC23-F8809837B5D4}"/>
              </a:ext>
            </a:extLst>
          </p:cNvPr>
          <p:cNvSpPr>
            <a:spLocks noGrp="1"/>
          </p:cNvSpPr>
          <p:nvPr/>
        </p:nvSpPr>
        <p:spPr>
          <a:xfrm>
            <a:off x="5690487" y="6942304"/>
            <a:ext cx="3665674" cy="342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300" dirty="0"/>
              <a:t>Stability (optional)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C88F6CC5-EE56-FC98-137B-8C8DE87032D9}"/>
              </a:ext>
            </a:extLst>
          </p:cNvPr>
          <p:cNvSpPr>
            <a:spLocks noGrp="1"/>
          </p:cNvSpPr>
          <p:nvPr/>
        </p:nvSpPr>
        <p:spPr>
          <a:xfrm>
            <a:off x="5696985" y="7343776"/>
            <a:ext cx="13068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Bootstrap refitting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8D5D868-7711-B738-5D7A-A11134A8A50A}"/>
              </a:ext>
            </a:extLst>
          </p:cNvPr>
          <p:cNvSpPr>
            <a:spLocks noGrp="1"/>
          </p:cNvSpPr>
          <p:nvPr/>
        </p:nvSpPr>
        <p:spPr>
          <a:xfrm>
            <a:off x="7026273" y="7326477"/>
            <a:ext cx="1306800" cy="9443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Permutation-rank stability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C45EABB-3165-5592-646B-3732D1A36B88}"/>
              </a:ext>
            </a:extLst>
          </p:cNvPr>
          <p:cNvSpPr>
            <a:spLocks noGrp="1"/>
          </p:cNvSpPr>
          <p:nvPr/>
        </p:nvSpPr>
        <p:spPr>
          <a:xfrm>
            <a:off x="8361367" y="7326470"/>
            <a:ext cx="1306800" cy="93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Pairwise Spearman </a:t>
            </a:r>
            <a:r>
              <a:rPr lang="el-GR" sz="1200" dirty="0"/>
              <a:t>ρ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7E332BE-BA15-2C83-505F-EC0691994660}"/>
              </a:ext>
            </a:extLst>
          </p:cNvPr>
          <p:cNvCxnSpPr/>
          <p:nvPr/>
        </p:nvCxnSpPr>
        <p:spPr>
          <a:xfrm>
            <a:off x="7013222" y="7499284"/>
            <a:ext cx="0" cy="648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149FF96-8FD6-1980-49E6-FF256D8B3D59}"/>
              </a:ext>
            </a:extLst>
          </p:cNvPr>
          <p:cNvCxnSpPr/>
          <p:nvPr/>
        </p:nvCxnSpPr>
        <p:spPr>
          <a:xfrm>
            <a:off x="8339464" y="7483589"/>
            <a:ext cx="0" cy="648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EA61884A-4DBB-B7CB-BBCD-F597A29B8960}"/>
              </a:ext>
            </a:extLst>
          </p:cNvPr>
          <p:cNvSpPr>
            <a:spLocks noGrp="1"/>
          </p:cNvSpPr>
          <p:nvPr/>
        </p:nvSpPr>
        <p:spPr>
          <a:xfrm>
            <a:off x="5691333" y="6907060"/>
            <a:ext cx="3956222" cy="1341605"/>
          </a:xfrm>
          <a:prstGeom prst="roundRect">
            <a:avLst>
              <a:gd name="adj" fmla="val 4848"/>
            </a:avLst>
          </a:prstGeom>
          <a:noFill/>
          <a:ln w="19050">
            <a:solidFill>
              <a:srgbClr val="91A297"/>
            </a:solidFill>
            <a:prstDash val="dash"/>
          </a:ln>
        </p:spPr>
        <p:txBody>
          <a:bodyPr/>
          <a:lstStyle/>
          <a:p>
            <a:endParaRPr lang="en-GB" sz="1677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E1E43A62-87F4-9241-CDFA-DA2BEF8232E0}"/>
              </a:ext>
            </a:extLst>
          </p:cNvPr>
          <p:cNvCxnSpPr>
            <a:cxnSpLocks/>
          </p:cNvCxnSpPr>
          <p:nvPr/>
        </p:nvCxnSpPr>
        <p:spPr>
          <a:xfrm rot="5400000">
            <a:off x="5311510" y="5813837"/>
            <a:ext cx="0" cy="504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10DEAC5-690F-F1CF-18A6-1790805BEC49}"/>
              </a:ext>
            </a:extLst>
          </p:cNvPr>
          <p:cNvCxnSpPr/>
          <p:nvPr/>
        </p:nvCxnSpPr>
        <p:spPr>
          <a:xfrm>
            <a:off x="3676491" y="8283294"/>
            <a:ext cx="0" cy="1044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  <a:tailEnd type="triangle" w="med" len="med"/>
          </a:ln>
        </p:spPr>
      </p:cxn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D2635EAB-E9A2-CB27-8F8E-D2668C419253}"/>
              </a:ext>
            </a:extLst>
          </p:cNvPr>
          <p:cNvSpPr>
            <a:spLocks noGrp="1"/>
          </p:cNvSpPr>
          <p:nvPr/>
        </p:nvSpPr>
        <p:spPr>
          <a:xfrm>
            <a:off x="436036" y="9346560"/>
            <a:ext cx="4618791" cy="1177607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9CAD9F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5BECBBF1-A9E6-5908-4EB0-1E7CC89441C2}"/>
              </a:ext>
            </a:extLst>
          </p:cNvPr>
          <p:cNvSpPr>
            <a:spLocks noGrp="1"/>
          </p:cNvSpPr>
          <p:nvPr/>
        </p:nvSpPr>
        <p:spPr>
          <a:xfrm>
            <a:off x="436024" y="9324970"/>
            <a:ext cx="4618796" cy="412115"/>
          </a:xfrm>
          <a:prstGeom prst="roundRect">
            <a:avLst>
              <a:gd name="adj" fmla="val 18182"/>
            </a:avLst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45B25A5-048E-DBCA-7C37-2CBF63809FA1}"/>
              </a:ext>
            </a:extLst>
          </p:cNvPr>
          <p:cNvSpPr>
            <a:spLocks noGrp="1"/>
          </p:cNvSpPr>
          <p:nvPr/>
        </p:nvSpPr>
        <p:spPr>
          <a:xfrm>
            <a:off x="436033" y="9531188"/>
            <a:ext cx="4618793" cy="211925"/>
          </a:xfrm>
          <a:prstGeom prst="rect">
            <a:avLst/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6EE16F3-D314-0682-2307-442D13871678}"/>
              </a:ext>
            </a:extLst>
          </p:cNvPr>
          <p:cNvSpPr>
            <a:spLocks noGrp="1"/>
          </p:cNvSpPr>
          <p:nvPr/>
        </p:nvSpPr>
        <p:spPr>
          <a:xfrm>
            <a:off x="431738" y="9352911"/>
            <a:ext cx="4467612" cy="342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300" dirty="0"/>
              <a:t>Reproducible exports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C23EB84-F286-F8CF-2361-B689BFE98CBB}"/>
              </a:ext>
            </a:extLst>
          </p:cNvPr>
          <p:cNvSpPr>
            <a:spLocks noGrp="1"/>
          </p:cNvSpPr>
          <p:nvPr/>
        </p:nvSpPr>
        <p:spPr>
          <a:xfrm>
            <a:off x="445550" y="9791533"/>
            <a:ext cx="1126800" cy="67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Model artefacts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8A08EC6-D25B-62CB-953E-94C167DFB82E}"/>
              </a:ext>
            </a:extLst>
          </p:cNvPr>
          <p:cNvSpPr>
            <a:spLocks noGrp="1"/>
          </p:cNvSpPr>
          <p:nvPr/>
        </p:nvSpPr>
        <p:spPr>
          <a:xfrm>
            <a:off x="1614553" y="9796834"/>
            <a:ext cx="1127994" cy="67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Tables and metrics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13A8D87-B723-72A1-DB4E-2FB89EF5D677}"/>
              </a:ext>
            </a:extLst>
          </p:cNvPr>
          <p:cNvSpPr>
            <a:spLocks noGrp="1"/>
          </p:cNvSpPr>
          <p:nvPr/>
        </p:nvSpPr>
        <p:spPr>
          <a:xfrm>
            <a:off x="2770038" y="9793660"/>
            <a:ext cx="1127994" cy="67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Runtime and provenance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5DC303B-97F5-FEE5-AAAF-32CBDD94A14F}"/>
              </a:ext>
            </a:extLst>
          </p:cNvPr>
          <p:cNvCxnSpPr>
            <a:cxnSpLocks/>
          </p:cNvCxnSpPr>
          <p:nvPr/>
        </p:nvCxnSpPr>
        <p:spPr>
          <a:xfrm>
            <a:off x="1594489" y="9909890"/>
            <a:ext cx="0" cy="47625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4820C9C9-5CBE-5EB4-C732-3AE31839706A}"/>
              </a:ext>
            </a:extLst>
          </p:cNvPr>
          <p:cNvCxnSpPr>
            <a:cxnSpLocks/>
          </p:cNvCxnSpPr>
          <p:nvPr/>
        </p:nvCxnSpPr>
        <p:spPr>
          <a:xfrm>
            <a:off x="2758807" y="9871336"/>
            <a:ext cx="0" cy="47625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30278DE-41AD-BF07-EBA2-92813460A0CE}"/>
              </a:ext>
            </a:extLst>
          </p:cNvPr>
          <p:cNvSpPr>
            <a:spLocks noGrp="1"/>
          </p:cNvSpPr>
          <p:nvPr/>
        </p:nvSpPr>
        <p:spPr>
          <a:xfrm>
            <a:off x="3911389" y="9798842"/>
            <a:ext cx="1127994" cy="6762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Configuration metadata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9649DFF0-B504-14F9-7332-C6017E17DB6D}"/>
              </a:ext>
            </a:extLst>
          </p:cNvPr>
          <p:cNvCxnSpPr>
            <a:cxnSpLocks/>
          </p:cNvCxnSpPr>
          <p:nvPr/>
        </p:nvCxnSpPr>
        <p:spPr>
          <a:xfrm>
            <a:off x="3884284" y="9882486"/>
            <a:ext cx="0" cy="47625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725F9CFF-A364-D62D-8099-BC6DD47CA0A2}"/>
              </a:ext>
            </a:extLst>
          </p:cNvPr>
          <p:cNvSpPr>
            <a:spLocks noGrp="1"/>
          </p:cNvSpPr>
          <p:nvPr/>
        </p:nvSpPr>
        <p:spPr>
          <a:xfrm>
            <a:off x="5693542" y="9354889"/>
            <a:ext cx="3954004" cy="1141329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9CAD9F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D2BEC350-FCF3-3C5F-6482-A8BA0C72C924}"/>
              </a:ext>
            </a:extLst>
          </p:cNvPr>
          <p:cNvSpPr>
            <a:spLocks noGrp="1"/>
          </p:cNvSpPr>
          <p:nvPr/>
        </p:nvSpPr>
        <p:spPr>
          <a:xfrm>
            <a:off x="5693539" y="9333298"/>
            <a:ext cx="3954008" cy="412115"/>
          </a:xfrm>
          <a:prstGeom prst="roundRect">
            <a:avLst>
              <a:gd name="adj" fmla="val 18182"/>
            </a:avLst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8B16576-F43D-FB43-E390-A15D999DC668}"/>
              </a:ext>
            </a:extLst>
          </p:cNvPr>
          <p:cNvSpPr>
            <a:spLocks noGrp="1"/>
          </p:cNvSpPr>
          <p:nvPr/>
        </p:nvSpPr>
        <p:spPr>
          <a:xfrm>
            <a:off x="5693540" y="9539516"/>
            <a:ext cx="3954006" cy="211925"/>
          </a:xfrm>
          <a:prstGeom prst="rect">
            <a:avLst/>
          </a:prstGeom>
          <a:solidFill>
            <a:srgbClr val="4F6A59"/>
          </a:solidFill>
          <a:ln w="0">
            <a:solidFill>
              <a:srgbClr val="4F6A59"/>
            </a:solidFill>
            <a:prstDash val="solid"/>
          </a:ln>
        </p:spPr>
        <p:txBody>
          <a:bodyPr/>
          <a:lstStyle/>
          <a:p>
            <a:endParaRPr lang="en-GB" sz="1677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CF9A338-7D02-88F9-725B-6B38A20B4760}"/>
              </a:ext>
            </a:extLst>
          </p:cNvPr>
          <p:cNvSpPr>
            <a:spLocks noGrp="1"/>
          </p:cNvSpPr>
          <p:nvPr/>
        </p:nvSpPr>
        <p:spPr>
          <a:xfrm>
            <a:off x="5693550" y="9361239"/>
            <a:ext cx="3951623" cy="342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GB" sz="1300" dirty="0"/>
              <a:t>Cross-dataset synthesis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5536F9C-BFF9-37A9-2217-8ED42A71E46C}"/>
              </a:ext>
            </a:extLst>
          </p:cNvPr>
          <p:cNvSpPr>
            <a:spLocks noGrp="1"/>
          </p:cNvSpPr>
          <p:nvPr/>
        </p:nvSpPr>
        <p:spPr>
          <a:xfrm>
            <a:off x="5750700" y="9772657"/>
            <a:ext cx="1196083" cy="6987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Compares rankings and stability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E4AA512-661F-C5E6-EE99-B3D970D322FB}"/>
              </a:ext>
            </a:extLst>
          </p:cNvPr>
          <p:cNvSpPr>
            <a:spLocks noGrp="1"/>
          </p:cNvSpPr>
          <p:nvPr/>
        </p:nvSpPr>
        <p:spPr>
          <a:xfrm>
            <a:off x="7083974" y="9763132"/>
            <a:ext cx="1196083" cy="7135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Assesses runtime across datasets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892506B-0DD4-F103-0644-469E3592477C}"/>
              </a:ext>
            </a:extLst>
          </p:cNvPr>
          <p:cNvSpPr>
            <a:spLocks noGrp="1"/>
          </p:cNvSpPr>
          <p:nvPr/>
        </p:nvSpPr>
        <p:spPr>
          <a:xfrm>
            <a:off x="8401383" y="9753602"/>
            <a:ext cx="1196083" cy="7312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28575" tIns="9524" rIns="28575" bIns="9524" anchor="ctr">
            <a:normAutofit/>
          </a:bodyPr>
          <a:lstStyle>
            <a:def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defPPr>
            <a:lvl1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>
                <a:solidFill>
                  <a:srgbClr val="44534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>
                <a:solidFill>
                  <a:srgbClr val="44534C"/>
                </a:solidFill>
                <a:latin typeface="Arial"/>
                <a:ea typeface="Arial"/>
                <a:cs typeface="Arial"/>
              </a:defRPr>
            </a:pPr>
            <a:r>
              <a:rPr lang="en-GB" sz="1200" dirty="0"/>
              <a:t>Synthesises findings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831323C9-9932-02BC-13BB-5805BE43D3A2}"/>
              </a:ext>
            </a:extLst>
          </p:cNvPr>
          <p:cNvCxnSpPr/>
          <p:nvPr/>
        </p:nvCxnSpPr>
        <p:spPr>
          <a:xfrm>
            <a:off x="7006752" y="9918218"/>
            <a:ext cx="0" cy="47625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8C69C388-CA42-C8F5-BD0E-F1A6649DDA30}"/>
              </a:ext>
            </a:extLst>
          </p:cNvPr>
          <p:cNvCxnSpPr/>
          <p:nvPr/>
        </p:nvCxnSpPr>
        <p:spPr>
          <a:xfrm>
            <a:off x="8339344" y="9879664"/>
            <a:ext cx="0" cy="47625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2717FABA-CA39-86E0-3844-0BC490953CBF}"/>
              </a:ext>
            </a:extLst>
          </p:cNvPr>
          <p:cNvCxnSpPr/>
          <p:nvPr/>
        </p:nvCxnSpPr>
        <p:spPr>
          <a:xfrm>
            <a:off x="2745422" y="7985127"/>
            <a:ext cx="0" cy="32400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75551DA-4173-FCB4-1790-F800EFC98FCF}"/>
              </a:ext>
            </a:extLst>
          </p:cNvPr>
          <p:cNvCxnSpPr/>
          <p:nvPr/>
        </p:nvCxnSpPr>
        <p:spPr>
          <a:xfrm>
            <a:off x="2745424" y="8293760"/>
            <a:ext cx="936000" cy="0"/>
          </a:xfrm>
          <a:prstGeom prst="straightConnector1">
            <a:avLst/>
          </a:prstGeom>
          <a:ln w="28575">
            <a:solidFill>
              <a:srgbClr val="819487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4447109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DocSecurity>0</DocSecurity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Consolas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Cátia Sofia dos Santos Rosário</cp:lastModifiedBy>
  <cp:revision>1</cp:revision>
  <dcterms:created xsi:type="dcterms:W3CDTF">2026-10-25T02:48:13Z</dcterms:created>
  <dcterms:modified xsi:type="dcterms:W3CDTF">2026-10-26T01:00:09Z</dcterms:modified>
</cp:coreProperties>
</file>